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4810125"/>
            <a:ext cx="11220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 err="1" smtClean="0">
                <a:solidFill>
                  <a:srgbClr val="64748B"/>
                </a:solidFill>
                <a:latin typeface="Plus Jakarta Sans"/>
              </a:rPr>
              <a:t>Stajyer</a:t>
            </a:r>
            <a:r>
              <a:rPr sz="975" b="0" i="0" u="none" dirty="0" smtClean="0">
                <a:solidFill>
                  <a:srgbClr val="64748B"/>
                </a:solidFill>
                <a:latin typeface="Plus Jakarta Sans"/>
              </a:rPr>
              <a:t> </a:t>
            </a:r>
            <a:r>
              <a:rPr sz="975" b="0" i="0" u="none" dirty="0" err="1" smtClean="0">
                <a:solidFill>
                  <a:srgbClr val="64748B"/>
                </a:solidFill>
                <a:latin typeface="Plus Jakarta Sans"/>
              </a:rPr>
              <a:t>Sunuu</a:t>
            </a:r>
            <a:r>
              <a:rPr sz="975" b="0" i="0" u="none" dirty="0" smtClean="0">
                <a:solidFill>
                  <a:srgbClr val="64748B"/>
                </a:solidFill>
                <a:latin typeface="Plus Jakarta Sans"/>
              </a:rPr>
              <a:t> 01 / GİRİŞ</a:t>
            </a:r>
            <a:endParaRPr sz="975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5775" y="2390775"/>
            <a:ext cx="11706225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sz="4500" b="1" i="0" u="none">
                <a:solidFill>
                  <a:srgbClr val="FFFFFF"/>
                </a:solidFill>
                <a:latin typeface="Plus Jakarta Sans"/>
              </a:rPr>
              <a:t>Intelligent Document</a:t>
            </a:r>
            <a:r>
              <a:t>
</a:t>
            </a:r>
            <a:r>
              <a:rPr sz="4500" b="1" i="0" u="none">
                <a:solidFill>
                  <a:srgbClr val="38BDF8"/>
                </a:solidFill>
                <a:latin typeface="Plus Jakarta Sans"/>
              </a:rPr>
              <a:t>Processing Projesi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3838575"/>
            <a:ext cx="8572500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tr-TR" sz="1425" b="0" i="0" u="none" dirty="0" smtClean="0">
                <a:solidFill>
                  <a:srgbClr val="94A3B8"/>
                </a:solidFill>
                <a:latin typeface="Plus Jakarta Sans"/>
              </a:rPr>
              <a:t>Fi</a:t>
            </a:r>
            <a:r>
              <a:rPr sz="1425" b="0" i="0" u="none" dirty="0" err="1" smtClean="0">
                <a:solidFill>
                  <a:srgbClr val="94A3B8"/>
                </a:solidFill>
                <a:latin typeface="Plus Jakarta Sans"/>
              </a:rPr>
              <a:t>nansal</a:t>
            </a:r>
            <a:r>
              <a:rPr sz="1425" b="0" i="0" u="none" dirty="0" smtClean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425" b="0" i="0" u="none" dirty="0" err="1">
                <a:solidFill>
                  <a:srgbClr val="94A3B8"/>
                </a:solidFill>
                <a:latin typeface="Plus Jakarta Sans"/>
              </a:rPr>
              <a:t>rapor</a:t>
            </a:r>
            <a:r>
              <a:rPr sz="1425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425" b="0" i="0" u="none" dirty="0" err="1">
                <a:solidFill>
                  <a:srgbClr val="94A3B8"/>
                </a:solidFill>
                <a:latin typeface="Plus Jakarta Sans"/>
              </a:rPr>
              <a:t>doğrulama</a:t>
            </a:r>
            <a:r>
              <a:rPr sz="1425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425" b="0" i="0" u="none" dirty="0" err="1">
                <a:solidFill>
                  <a:srgbClr val="94A3B8"/>
                </a:solidFill>
                <a:latin typeface="Plus Jakarta Sans"/>
              </a:rPr>
              <a:t>ve</a:t>
            </a:r>
            <a:r>
              <a:rPr sz="1425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425" b="0" i="0" u="none" dirty="0" err="1">
                <a:solidFill>
                  <a:srgbClr val="94A3B8"/>
                </a:solidFill>
                <a:latin typeface="Plus Jakarta Sans"/>
              </a:rPr>
              <a:t>veri</a:t>
            </a:r>
            <a:r>
              <a:rPr sz="1425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425" b="0" i="0" u="none" dirty="0" err="1">
                <a:solidFill>
                  <a:srgbClr val="94A3B8"/>
                </a:solidFill>
                <a:latin typeface="Plus Jakarta Sans"/>
              </a:rPr>
              <a:t>çıkarma</a:t>
            </a:r>
            <a:r>
              <a:rPr sz="1425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425" b="0" i="0" u="none" dirty="0" err="1">
                <a:solidFill>
                  <a:srgbClr val="94A3B8"/>
                </a:solidFill>
                <a:latin typeface="Plus Jakarta Sans"/>
              </a:rPr>
              <a:t>projesi</a:t>
            </a:r>
            <a:r>
              <a:rPr sz="1425" b="0" i="0" u="none" dirty="0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067425"/>
            <a:ext cx="11220450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81125"/>
            <a:ext cx="5467350" cy="4686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381125"/>
            <a:ext cx="5467350" cy="4686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5775" y="485775"/>
            <a:ext cx="11220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02 / PROJE AMACI2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704850"/>
            <a:ext cx="117062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Plus Jakarta Sans"/>
              </a:rPr>
              <a:t>Proje Amacı ve Kapsamı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75" y="6219825"/>
            <a:ext cx="2333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Intelligent Document Processing Projesi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3175" y="6219825"/>
            <a:ext cx="1543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A100 &amp; LLM Tabanlı Çözüm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1676400"/>
            <a:ext cx="4780597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Birincil Amaç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057400"/>
            <a:ext cx="4876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Kurumumuza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gelen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bağımsız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denetim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(BDR)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ve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lang="tr-TR" sz="1200" dirty="0" smtClean="0">
                <a:solidFill>
                  <a:srgbClr val="CBD5E1"/>
                </a:solidFill>
                <a:latin typeface="Plus Jakarta Sans"/>
              </a:rPr>
              <a:t>bağımsız denetim</a:t>
            </a:r>
            <a:r>
              <a:rPr sz="1200" b="0" i="0" u="none" dirty="0" smtClean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(JCR)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raporu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PDF'lerini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manuel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inceleme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yükünden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kurtarmak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;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belge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tipini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otomatik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sınıflandırıp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şirket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unvanı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,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yıl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ve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bağlı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ortaklık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durumunu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yapay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zekâ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ile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yapısal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verilere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dönüştürmektir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6575" y="1676400"/>
            <a:ext cx="4750593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Sistem Kapsamı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2057400"/>
            <a:ext cx="4876800" cy="443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tr-TR" sz="1200" dirty="0">
                <a:solidFill>
                  <a:schemeClr val="bg1"/>
                </a:solidFill>
                <a:latin typeface="Plus Jakarta Sans"/>
              </a:rPr>
              <a:t>PDF ön işleme, </a:t>
            </a:r>
            <a:r>
              <a:rPr lang="tr-TR" sz="1200" dirty="0" err="1">
                <a:solidFill>
                  <a:schemeClr val="bg1"/>
                </a:solidFill>
                <a:latin typeface="Plus Jakarta Sans"/>
              </a:rPr>
              <a:t>hibrit</a:t>
            </a:r>
            <a:r>
              <a:rPr lang="tr-TR" sz="1200" dirty="0">
                <a:solidFill>
                  <a:schemeClr val="bg1"/>
                </a:solidFill>
                <a:latin typeface="Plus Jakarta Sans"/>
              </a:rPr>
              <a:t> OCR ile metin çıkarımı, yerel LLM analizi ve otomatik Excel raporlamasını içeren uçtan uca bütüncül bir sistemdir.</a:t>
            </a:r>
            <a:endParaRPr sz="1200" b="0" i="0" u="none" dirty="0">
              <a:solidFill>
                <a:schemeClr val="bg1"/>
              </a:solidFill>
              <a:latin typeface="Plus Jakarta Sans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1704975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1704975"/>
            <a:ext cx="238125" cy="209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067425"/>
            <a:ext cx="11220450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81125"/>
            <a:ext cx="3613100" cy="2190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375" y="1381125"/>
            <a:ext cx="3613100" cy="2190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1381125"/>
            <a:ext cx="3613249" cy="2190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3762375"/>
            <a:ext cx="3613100" cy="2305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9375" y="3762375"/>
            <a:ext cx="3613100" cy="2305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1600200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8450" y="1600200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2050" y="1600200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850" y="4038600"/>
            <a:ext cx="288131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08450" y="3981450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5775" y="485775"/>
            <a:ext cx="11220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04 / PLANLAMA4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775" y="704850"/>
            <a:ext cx="117062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Plus Jakarta Sans"/>
              </a:rPr>
              <a:t>Proje Planı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775" y="6219825"/>
            <a:ext cx="2333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Intelligent Document Processing Projesi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67900" y="6219825"/>
            <a:ext cx="18383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Metodolojik Geliştirme Adımları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2000250"/>
            <a:ext cx="317495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BDR ve JCR finansal rapor formatlarının incelenmesi, veri setinin yapısının anlaşılması ve gereksinimlerin belirlenmesi.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8450" y="2000250"/>
            <a:ext cx="317495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PyMuPDF ve Tesseract OCR motorları kurularak metin normalizasyonu ve hata toleranslı veri ayıklama mekanizmasının kurulması.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2050" y="2000250"/>
            <a:ext cx="3175099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Qwen-2.5-1.5B yerel LLM modelinin A100 GPU ortamına entegre edilmesi ve prompt optimizasyonlarının yapılması.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" y="4495800"/>
            <a:ext cx="317495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Regex kuralları ile LLM çıkarımlarının doğrulanması, doğruluk testlerinin koşturulması ve Excel çıktı kalitesinin ölçülmesi.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450" y="4381500"/>
            <a:ext cx="317495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Gradio web arayüzünün geliştirilmesi, tüm sonuçların raporlanması ve sunuma hazır hale getirilmesi.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50" y="1647825"/>
            <a:ext cx="150018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Analiz &amp; İşi Anlama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7550" y="1647825"/>
            <a:ext cx="12001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Veri Temizleme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1150" y="1647825"/>
            <a:ext cx="124015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Modelin Eğitimi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7281" y="3981450"/>
            <a:ext cx="291114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Model Karşılaştırma ve Değerlendirme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7550" y="4029075"/>
            <a:ext cx="1370171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Dokümantasyon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85775" y="485775"/>
            <a:ext cx="11220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>
                <a:solidFill>
                  <a:srgbClr val="38BDF8"/>
                </a:solidFill>
                <a:latin typeface="Aptos"/>
              </a:defRPr>
            </a:pPr>
            <a:r>
              <a:t>03 / ÇÖZÜM MİMARİSİ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775" y="704850"/>
            <a:ext cx="1170622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3000" b="1">
                <a:solidFill>
                  <a:srgbClr val="F4F7FB"/>
                </a:solidFill>
                <a:latin typeface="Aptos Display"/>
              </a:defRPr>
            </a:pPr>
            <a:r>
              <a:t>Çözüm Diyagramı</a:t>
            </a:r>
            <a:endParaRPr sz="3000" b="1" dirty="0">
              <a:solidFill>
                <a:srgbClr val="FFFFFF"/>
              </a:solidFill>
              <a:latin typeface="Plus Jakarta San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880360" y="3639312"/>
            <a:ext cx="256031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88152" y="3639312"/>
            <a:ext cx="256031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95944" y="3639312"/>
            <a:ext cx="25603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1783080"/>
            <a:ext cx="2240280" cy="2971800"/>
          </a:xfrm>
          <a:prstGeom prst="roundRect">
            <a:avLst/>
          </a:prstGeom>
          <a:solidFill>
            <a:srgbClr val="15233A"/>
          </a:solidFill>
          <a:ln w="12700">
            <a:solidFill>
              <a:srgbClr val="2B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63240" y="1572768"/>
            <a:ext cx="4846320" cy="3401568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8A9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0" y="1783080"/>
            <a:ext cx="2240280" cy="2971800"/>
          </a:xfrm>
          <a:prstGeom prst="roundRect">
            <a:avLst/>
          </a:prstGeom>
          <a:solidFill>
            <a:srgbClr val="15233A"/>
          </a:solidFill>
          <a:ln w="12700">
            <a:solidFill>
              <a:srgbClr val="2B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029968"/>
            <a:ext cx="19659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2100" b="1">
                <a:solidFill>
                  <a:srgbClr val="F4F7FB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468880"/>
            <a:ext cx="1874519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00" b="0">
                <a:solidFill>
                  <a:srgbClr val="9AA8BE"/>
                </a:solidFill>
                <a:latin typeface="Aptos"/>
              </a:defRPr>
            </a:pPr>
            <a:r>
              <a:t>Diğer modüller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1810512"/>
            <a:ext cx="42062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800" b="1">
                <a:solidFill>
                  <a:srgbClr val="F4F7FB"/>
                </a:solidFill>
                <a:latin typeface="Aptos"/>
              </a:defRPr>
            </a:pPr>
            <a:r>
              <a:t>BACK-END SERVİS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148840"/>
            <a:ext cx="4169663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Aptos"/>
              </a:defRPr>
            </a:pPr>
            <a:r>
              <a:t>On-Prem Doküman Kontrolü Servisi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496312"/>
            <a:ext cx="402336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300" b="0">
                <a:solidFill>
                  <a:srgbClr val="9AA8BE"/>
                </a:solidFill>
                <a:latin typeface="Aptos"/>
              </a:defRPr>
            </a:pPr>
            <a:r>
              <a:t>Açık kaynaklı LLM tabanlı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2852928"/>
            <a:ext cx="4114800" cy="749808"/>
          </a:xfrm>
          <a:prstGeom prst="roundRect">
            <a:avLst/>
          </a:prstGeom>
          <a:solidFill>
            <a:srgbClr val="18333D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66160" y="2907792"/>
            <a:ext cx="38404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600" b="1">
                <a:solidFill>
                  <a:srgbClr val="F4F7FB"/>
                </a:solidFill>
                <a:latin typeface="Aptos"/>
              </a:defRPr>
            </a:pPr>
            <a:r>
              <a:t>1 • Doküman İşleme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200400"/>
            <a:ext cx="38404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00" b="0">
                <a:solidFill>
                  <a:srgbClr val="9AA8BE"/>
                </a:solidFill>
                <a:latin typeface="Aptos"/>
              </a:defRPr>
            </a:pPr>
            <a:r>
              <a:t>PDF layout / sayfa seçme ön işleme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0" y="3602736"/>
            <a:ext cx="0" cy="173736"/>
          </a:xfrm>
          <a:prstGeom prst="line">
            <a:avLst/>
          </a:prstGeom>
          <a:ln w="19050">
            <a:solidFill>
              <a:srgbClr val="F4F7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429000" y="3822191"/>
            <a:ext cx="4114800" cy="877824"/>
          </a:xfrm>
          <a:prstGeom prst="roundRect">
            <a:avLst/>
          </a:prstGeom>
          <a:solidFill>
            <a:srgbClr val="18333D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66160" y="3877056"/>
            <a:ext cx="384048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00" b="1">
                <a:solidFill>
                  <a:srgbClr val="F4F7FB"/>
                </a:solidFill>
                <a:latin typeface="Aptos"/>
              </a:defRPr>
            </a:pPr>
            <a:r>
              <a:t>2 • Doküman Alanlarının Çıkarımı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187952"/>
            <a:ext cx="38404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050" b="0">
                <a:solidFill>
                  <a:srgbClr val="9AA8BE"/>
                </a:solidFill>
                <a:latin typeface="Aptos"/>
              </a:defRPr>
            </a:pPr>
            <a:r>
              <a:t>LLM + Regex tabanlı yapı</a:t>
            </a:r>
            <a:br/>
            <a:r>
              <a:t>Müşteri Adı • Doküman Tipi • Yıl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029968"/>
            <a:ext cx="17830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2100" b="1">
                <a:solidFill>
                  <a:srgbClr val="F4F7FB"/>
                </a:solidFill>
                <a:latin typeface="Aptos"/>
              </a:defRPr>
            </a:pPr>
            <a:r>
              <a:t>Çıktı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2542032"/>
            <a:ext cx="182880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00" b="1">
                <a:solidFill>
                  <a:srgbClr val="F4F7FB"/>
                </a:solidFill>
                <a:latin typeface="Aptos"/>
              </a:defRPr>
            </a:pPr>
            <a:r>
              <a:t>Müşteri Adı</a:t>
            </a:r>
            <a:br/>
            <a:r>
              <a:t>Doküman Tipi</a:t>
            </a:r>
            <a:br/>
            <a:r>
              <a:t>Yıl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3584448"/>
            <a:ext cx="182880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200" b="0">
                <a:solidFill>
                  <a:srgbClr val="9AA8BE"/>
                </a:solidFill>
                <a:latin typeface="Aptos"/>
              </a:defRPr>
            </a:pPr>
            <a:r>
              <a:t>Yapısal veri olarak</a:t>
            </a:r>
            <a:br/>
            <a:r>
              <a:t>aktarılır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743200" y="3154680"/>
            <a:ext cx="320040" cy="0"/>
          </a:xfrm>
          <a:prstGeom prst="line">
            <a:avLst/>
          </a:prstGeom>
          <a:ln w="3048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909560" y="3154680"/>
            <a:ext cx="320040" cy="0"/>
          </a:xfrm>
          <a:prstGeom prst="line">
            <a:avLst/>
          </a:prstGeom>
          <a:ln w="3048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856231" y="2788920"/>
            <a:ext cx="132588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Aptos"/>
              </a:defRPr>
            </a:pPr>
            <a:r>
              <a:rPr dirty="0"/>
              <a:t>API Request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595753"/>
            <a:ext cx="137160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Aptos"/>
              </a:defRPr>
            </a:pPr>
            <a:r>
              <a:rPr dirty="0" err="1"/>
              <a:t>Doküman</a:t>
            </a: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6629400" y="4389120"/>
            <a:ext cx="18288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950" b="1">
                <a:solidFill>
                  <a:srgbClr val="38BDF8"/>
                </a:solidFill>
                <a:latin typeface="Aptos"/>
              </a:defRPr>
            </a:pPr>
            <a:r>
              <a:t>Müşteri Adı • Doküman Tipi • Yıl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5230368"/>
            <a:ext cx="10149840" cy="0"/>
          </a:xfrm>
          <a:prstGeom prst="line">
            <a:avLst/>
          </a:prstGeom>
          <a:ln w="10160">
            <a:solidFill>
              <a:srgbClr val="25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5376672"/>
            <a:ext cx="274320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defRPr sz="950" b="0">
                <a:solidFill>
                  <a:srgbClr val="7384A0"/>
                </a:solidFill>
                <a:latin typeface="Aptos"/>
              </a:defRPr>
            </a:pPr>
            <a:r>
              <a:t>Intelligent Document Processing Projesi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5376672"/>
            <a:ext cx="169164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defRPr sz="950" b="0">
                <a:solidFill>
                  <a:srgbClr val="7384A0"/>
                </a:solidFill>
                <a:latin typeface="Aptos"/>
              </a:defRPr>
            </a:pPr>
            <a:r>
              <a:t>Otomatik Raporlama Hattı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067425"/>
            <a:ext cx="11220450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025" y="2995612"/>
            <a:ext cx="2138362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637" y="3376612"/>
            <a:ext cx="2138362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3757612"/>
            <a:ext cx="2138362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7862" y="4157662"/>
            <a:ext cx="2138362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0" y="4557712"/>
            <a:ext cx="2138362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7862" y="4557712"/>
            <a:ext cx="2138362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485775"/>
            <a:ext cx="11220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05 / TAKVİM5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775" y="704850"/>
            <a:ext cx="117062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Plus Jakarta Sans"/>
              </a:rPr>
              <a:t>Zaman Planı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6219825"/>
            <a:ext cx="2333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Intelligent Document Processing Projesi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6575" y="6219825"/>
            <a:ext cx="1009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Haftalık İş Takvimi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75" y="2624137"/>
            <a:ext cx="2286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Proje Adımı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7025" y="2624137"/>
            <a:ext cx="213836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Pazartesi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0637" y="2624137"/>
            <a:ext cx="213836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Salı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2624137"/>
            <a:ext cx="213836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Çarşamba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67862" y="2624137"/>
            <a:ext cx="213836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Perşembe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75" y="3052762"/>
            <a:ext cx="2286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FFFFF"/>
                </a:solidFill>
                <a:latin typeface="Plus Jakarta Sans Medium"/>
              </a:rPr>
              <a:t>1. Adım: Analiz &amp; İşi Anlama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0637" y="29956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34250" y="29956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567862" y="29956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5775" y="3433762"/>
            <a:ext cx="2286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FFFFF"/>
                </a:solidFill>
                <a:latin typeface="Plus Jakarta Sans Medium"/>
              </a:rPr>
              <a:t>2. Adım: Veri Temizleme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67025" y="33766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34250" y="33766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567862" y="33766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5775" y="3814762"/>
            <a:ext cx="2286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FFFFF"/>
                </a:solidFill>
                <a:latin typeface="Plus Jakarta Sans Medium"/>
              </a:rPr>
              <a:t>3. Adım: Modelin Eğitimi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67025" y="37576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100637" y="37576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567862" y="37576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5775" y="4138612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FFFFF"/>
                </a:solidFill>
                <a:latin typeface="Plus Jakarta Sans Medium"/>
              </a:rPr>
              <a:t>4. Adım: Model Karşılaştırma ve Değerlendirme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67025" y="415766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100637" y="415766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334250" y="415766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5775" y="4614862"/>
            <a:ext cx="2286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FFFFF"/>
                </a:solidFill>
                <a:latin typeface="Plus Jakarta Sans Medium"/>
              </a:rPr>
              <a:t>5. Adım: Dokümantasyon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67025" y="45577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100637" y="45577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067425"/>
            <a:ext cx="11220450" cy="30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485775"/>
            <a:ext cx="11220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06 / SONUÇLAR6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" y="704850"/>
            <a:ext cx="117062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Plus Jakarta Sans"/>
              </a:rPr>
              <a:t>Proje Çıktıları &amp; Excel Sonuç Tablosu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5775" y="2347912"/>
            <a:ext cx="11220450" cy="2752725"/>
          </a:xfrm>
          <a:prstGeom prst="roundRect">
            <a:avLst>
              <a:gd name="adj" fmla="val 0"/>
            </a:avLst>
          </a:prstGeom>
          <a:solidFill>
            <a:srgbClr val="131C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5775" y="2347912"/>
          <a:ext cx="11210922" cy="275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2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5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4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4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878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Dosya Adı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Doküman Tipi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Müşteri Adı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Yıl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Bağlı Ortaklık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8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bdr iş bankası.pdf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BDR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İş Faktoring A.Ş.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Yok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78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Tf BDR.pdf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BDR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Türkiye Finans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Yok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78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jcr aksa.pdf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JCR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AKSA ENERJİ ÜRETİM A.Ş.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Var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78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sekerbank.pdf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JCR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Şekerbank T.A.Ş.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2024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Var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79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ünlü yatırım.pdf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JCR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ÜNLÜ YATIRIM HOLDİNG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Var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5775" y="6219825"/>
            <a:ext cx="2333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Intelligent Document Processing Projesi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9700" y="6219825"/>
            <a:ext cx="2676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Otomatik Excel Çıktısı (`arayuz_sonuclari.xlsx`)</a:t>
            </a:r>
          </a:p>
        </p:txBody>
      </p:sp>
      <p:sp>
        <p:nvSpPr>
          <p:cNvPr id="9" name="Rectangle 8"/>
          <p:cNvSpPr/>
          <p:nvPr/>
        </p:nvSpPr>
        <p:spPr>
          <a:xfrm>
            <a:off x="490537" y="2809875"/>
            <a:ext cx="225444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4985" y="2809875"/>
            <a:ext cx="186377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08760" y="2809875"/>
            <a:ext cx="297403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82792" y="2809875"/>
            <a:ext cx="101411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96907" y="2809875"/>
            <a:ext cx="12745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871471" y="2809875"/>
            <a:ext cx="18299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0537" y="3267075"/>
            <a:ext cx="225444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4985" y="3267075"/>
            <a:ext cx="186377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08760" y="3267075"/>
            <a:ext cx="297403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82792" y="3267075"/>
            <a:ext cx="101411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96907" y="3267075"/>
            <a:ext cx="12745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871471" y="3267075"/>
            <a:ext cx="18299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0537" y="3724275"/>
            <a:ext cx="225444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4985" y="3724275"/>
            <a:ext cx="186377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08760" y="3724275"/>
            <a:ext cx="297403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82792" y="3724275"/>
            <a:ext cx="101411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596907" y="3724275"/>
            <a:ext cx="12745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871471" y="3724275"/>
            <a:ext cx="18299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537" y="4181475"/>
            <a:ext cx="225444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4985" y="4181475"/>
            <a:ext cx="186377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08760" y="4181475"/>
            <a:ext cx="297403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82792" y="4181475"/>
            <a:ext cx="101411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596907" y="4181475"/>
            <a:ext cx="12745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71471" y="4181475"/>
            <a:ext cx="18299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90537" y="4638675"/>
            <a:ext cx="225444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44985" y="4638675"/>
            <a:ext cx="186377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08760" y="4638675"/>
            <a:ext cx="297403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582792" y="4638675"/>
            <a:ext cx="101411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596907" y="4638675"/>
            <a:ext cx="12745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871471" y="4638675"/>
            <a:ext cx="18299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5775" y="485775"/>
            <a:ext cx="11220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>
                <a:solidFill>
                  <a:srgbClr val="38BDF8"/>
                </a:solidFill>
                <a:latin typeface="Plus Jakarta Sans SemiBold"/>
              </a:rPr>
              <a:t>07 / SONUÇLAR7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775" y="704850"/>
            <a:ext cx="117062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Plus Jakarta Sans"/>
              </a:rPr>
              <a:t>Sistem Arayüzünden Örnek Sonuçlar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067425"/>
            <a:ext cx="1122045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5775" y="6219825"/>
            <a:ext cx="4000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75" b="0">
                <a:solidFill>
                  <a:srgbClr val="64748B"/>
                </a:solidFill>
                <a:latin typeface="Plus Jakarta Sans"/>
              </a:rPr>
              <a:t>Intelligent Document Processing Projesi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6225" y="6219825"/>
            <a:ext cx="3200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75" b="0">
                <a:solidFill>
                  <a:srgbClr val="64748B"/>
                </a:solidFill>
                <a:latin typeface="Plus Jakarta Sans"/>
              </a:rPr>
              <a:t>Gradio Web Arayüzü — Canlı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353312"/>
            <a:ext cx="5468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B96FF"/>
                </a:solidFill>
                <a:latin typeface="Aptos"/>
              </a:rPr>
              <a:t>BDR Örneği — Vakıf Katılım Bankası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353312"/>
            <a:ext cx="5468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B96FF"/>
                </a:solidFill>
                <a:latin typeface="Aptos"/>
              </a:rPr>
              <a:t>JCR Örneği — Hepsi Finansman A.Ş.</a:t>
            </a:r>
          </a:p>
        </p:txBody>
      </p:sp>
      <p:pic>
        <p:nvPicPr>
          <p:cNvPr id="15" name="Picture 14" descr="2612dd2e-8da4-44e9-8464-9b526d2f3570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63" y="1664208"/>
            <a:ext cx="5756988" cy="3869817"/>
          </a:xfrm>
          <a:prstGeom prst="rect">
            <a:avLst/>
          </a:prstGeom>
        </p:spPr>
      </p:pic>
      <p:pic>
        <p:nvPicPr>
          <p:cNvPr id="16" name="Picture 15" descr="306f0f0a-5f50-4e8b-a8e8-b3e2d62ad8eb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021" y="1664208"/>
            <a:ext cx="5468112" cy="3857334"/>
          </a:xfrm>
          <a:prstGeom prst="rect">
            <a:avLst/>
          </a:prstGeom>
        </p:spPr>
      </p:pic>
      <p:sp>
        <p:nvSpPr>
          <p:cNvPr id="4" name="Metin kutusu 3"/>
          <p:cNvSpPr txBox="1"/>
          <p:nvPr/>
        </p:nvSpPr>
        <p:spPr>
          <a:xfrm>
            <a:off x="10261535" y="5833542"/>
            <a:ext cx="19304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500" dirty="0" smtClean="0">
                <a:solidFill>
                  <a:schemeClr val="bg1"/>
                </a:solidFill>
              </a:rPr>
              <a:t>BEYZA ÇOLAKLAR</a:t>
            </a:r>
            <a:endParaRPr lang="tr-TR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417</Words>
  <Application>Microsoft Office PowerPoint</Application>
  <PresentationFormat>Geniş ekran</PresentationFormat>
  <Paragraphs>99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Plus Jakarta Sans</vt:lpstr>
      <vt:lpstr>Plus Jakarta Sans Medium</vt:lpstr>
      <vt:lpstr>Plus Jakarta Sans SemiBold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2026-09-10T21:52:59Z</dcterms:modified>
  <cp:category/>
</cp:coreProperties>
</file>