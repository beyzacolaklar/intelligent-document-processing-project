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10125"/>
            <a:ext cx="11220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 smtClean="0">
                <a:solidFill>
                  <a:srgbClr val="64748B"/>
                </a:solidFill>
                <a:latin typeface="Plus Jakarta Sans"/>
              </a:rPr>
              <a:t>Stajyer</a:t>
            </a:r>
            <a:r>
              <a:rPr sz="975" b="0" i="0" u="none" dirty="0" smtClean="0">
                <a:solidFill>
                  <a:srgbClr val="64748B"/>
                </a:solidFill>
                <a:latin typeface="Plus Jakarta Sans"/>
              </a:rPr>
              <a:t> </a:t>
            </a:r>
            <a:r>
              <a:rPr sz="975" b="0" i="0" u="none" dirty="0" err="1" smtClean="0">
                <a:solidFill>
                  <a:srgbClr val="64748B"/>
                </a:solidFill>
                <a:latin typeface="Plus Jakarta Sans"/>
              </a:rPr>
              <a:t>Sunuu</a:t>
            </a:r>
            <a:r>
              <a:rPr sz="975" b="0" i="0" u="none" dirty="0" smtClean="0">
                <a:solidFill>
                  <a:srgbClr val="64748B"/>
                </a:solidFill>
                <a:latin typeface="Plus Jakarta Sans"/>
              </a:rPr>
              <a:t> 01 / GİRİŞ</a:t>
            </a:r>
            <a:endParaRPr sz="975" b="0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775" y="2390775"/>
            <a:ext cx="117062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sz="4500" b="1" i="0" u="none">
                <a:solidFill>
                  <a:srgbClr val="FFFFFF"/>
                </a:solidFill>
                <a:latin typeface="Plus Jakarta Sans"/>
              </a:rPr>
              <a:t>Intelligent Document</a:t>
            </a:r>
            <a:r>
              <a:t>
</a:t>
            </a:r>
            <a:r>
              <a:rPr sz="4500" b="1" i="0" u="none">
                <a:solidFill>
                  <a:srgbClr val="38BDF8"/>
                </a:solidFill>
                <a:latin typeface="Plus Jakarta Sans"/>
              </a:rPr>
              <a:t>Processing Projesi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3838575"/>
            <a:ext cx="85725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Plus Jakarta Sans"/>
              </a:rPr>
              <a:t>A100 GPU altyapısı ve Qwen-2.5 yerel LLM mimarisi kullanılarak geliştirilen uçtan uca finansal rapor doğrulama ve veri çıkarma projesi.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81125"/>
            <a:ext cx="5467350" cy="468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81125"/>
            <a:ext cx="5467350" cy="468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02 / PROJE AMACI2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Amacı ve Kapsamı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3175" y="6219825"/>
            <a:ext cx="1543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A100 &amp; LLM Tabanlı Çözüm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1676400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Birincil Amaç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057400"/>
            <a:ext cx="4876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Kurumumuza gelen bağımsız denetim (BDR) ve kredi rating (JCR) raporu PDF'lerini manuel inceleme yükünden kurtarmak; belge tipini otomatik sınıflandırıp şirket unvanı, yıl ve bağlı ortaklık durumunu yapay zekâ ile yapısal verilere dönüştürmektir.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1676400"/>
            <a:ext cx="4750593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Sistem Kapsamı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2057400"/>
            <a:ext cx="4876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Plus Jakarta Sans"/>
              </a:rPr>
              <a:t>Uçtan Uca Mimari:</a:t>
            </a:r>
            <a:r>
              <a:rPr sz="1200" b="0" i="0" u="none">
                <a:solidFill>
                  <a:srgbClr val="CBD5E1"/>
                </a:solidFill>
                <a:latin typeface="Plus Jakarta Sans"/>
              </a:rPr>
              <a:t> PDF Doğrulama → Hibrit Metin Çıkarma (PyMuPDF + Tesseract OCR) → Regex Sınıflandırma → Qwen-2.5 LLM Bilgi Çıkarımı → Excel Raporlama &amp; Gradio Web Arayüzü.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1704975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1704975"/>
            <a:ext cx="238125" cy="20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81125"/>
            <a:ext cx="2662237" cy="468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12" y="1381125"/>
            <a:ext cx="2662237" cy="468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381125"/>
            <a:ext cx="2662237" cy="4686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987" y="1381125"/>
            <a:ext cx="2662237" cy="4686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03 / ÇÖZÜM MİMARİSİ3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Uçtan Uca Veri Akışı ve Süreç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0" y="6219825"/>
            <a:ext cx="15144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Otomatik Raporlama Hattı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1628775"/>
            <a:ext cx="2166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2085975"/>
            <a:ext cx="227528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Veri Girişi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2381250"/>
            <a:ext cx="216693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Ham PDF raporlarının sisteme yüklenmesi ve geçerlilik kontrolü.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6162" y="1628775"/>
            <a:ext cx="2166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6162" y="2085975"/>
            <a:ext cx="227528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Hibrit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6162" y="2381250"/>
            <a:ext cx="2166937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Taranmış veya dijital PDF'lerden PyMuPDF ve Tesseract ile metin çıkarımı.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1628775"/>
            <a:ext cx="2166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2085975"/>
            <a:ext cx="227528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LLM Analizi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2381250"/>
            <a:ext cx="2166937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A100 GPU hızlandırmalı Qwen-2.5 modeliyle nokta atışı öznitelik analizi.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1637" y="1628775"/>
            <a:ext cx="216693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Plus Jakarta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1637" y="2085975"/>
            <a:ext cx="227528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Excel Çıktısı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1637" y="2381250"/>
            <a:ext cx="2166937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Elde edilen tüm verilerin otomatik olarak Excel tablolarına aktarılması.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81125"/>
            <a:ext cx="3613100" cy="2190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1381125"/>
            <a:ext cx="3613100" cy="2190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1381125"/>
            <a:ext cx="3613249" cy="2190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762375"/>
            <a:ext cx="3613100" cy="2305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9375" y="3762375"/>
            <a:ext cx="3613100" cy="2305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6002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8450" y="160020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1600200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4038600"/>
            <a:ext cx="288131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398145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04 / PLANLAMA4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Planı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67900" y="6219825"/>
            <a:ext cx="1838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Metodolojik Geliştirme Adımları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00025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BDR ve JCR finansal rapor formatlarının incelenmesi, veri setinin yapısının anlaşılması ve gereksinimlerin belirlenmesi.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450" y="200025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PyMuPDF ve Tesseract OCR motorları kurularak metin normalizasyonu ve hata toleranslı veri ayıklama mekanizmasının kurulması.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2000250"/>
            <a:ext cx="3175099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Qwen-2.5-1.5B yerel LLM modelinin A100 GPU ortamına entegre edilmesi ve prompt optimizasyonlarının yapılması.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49580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Regex kuralları ile LLM çıkarımlarının doğrulanması, doğruluk testlerinin koşturulması ve Excel çıktı kalitesinin ölçülmesi.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450" y="4381500"/>
            <a:ext cx="3174950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Gradio web arayüzünün geliştirilmesi, tüm sonuçların raporlanması ve sunuma hazır hale getirilmesi.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1647825"/>
            <a:ext cx="150018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Analiz &amp; İşi Anlama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7550" y="1647825"/>
            <a:ext cx="12001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Veri Temizleme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1150" y="1647825"/>
            <a:ext cx="124015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Modelin Eğitimi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7281" y="3981450"/>
            <a:ext cx="291114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Model Karşılaştırma ve Değerlendirme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7550" y="4029075"/>
            <a:ext cx="137017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Dokümantasyon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25" y="2995612"/>
            <a:ext cx="2138362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637" y="3376612"/>
            <a:ext cx="2138362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3757612"/>
            <a:ext cx="2138362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7862" y="4157662"/>
            <a:ext cx="2138362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4557712"/>
            <a:ext cx="2138362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7862" y="4557712"/>
            <a:ext cx="2138362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05 / TAKVİM5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Zaman Planı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6575" y="6219825"/>
            <a:ext cx="1009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Haftalık İş Takvimi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2624137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Proje Adımı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7025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Pazartesi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637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Salı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Çarşamba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7862" y="2624137"/>
            <a:ext cx="2138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Perşembe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3052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1. Adım: Analiz &amp; İşi Anlama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0637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34250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567862" y="2995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5775" y="3433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2. Adım: Veri Temizleme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67025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34250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567862" y="3376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5775" y="38147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3. Adım: Modelin Eğitimi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7025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100637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67862" y="37576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5775" y="4138612"/>
            <a:ext cx="2286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4. Adım: Model Karşılaştırma ve Değerlendirme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67025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00637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334250" y="415766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5775" y="4614862"/>
            <a:ext cx="2286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FFFFF"/>
                </a:solidFill>
                <a:latin typeface="Plus Jakarta Sans Medium"/>
              </a:rPr>
              <a:t>5. Adım: Dokümantasyon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67025" y="45577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100637" y="4557712"/>
            <a:ext cx="2138362" cy="266700"/>
          </a:xfrm>
          <a:prstGeom prst="roundRect">
            <a:avLst>
              <a:gd name="adj" fmla="val 21428"/>
            </a:avLst>
          </a:prstGeom>
          <a:solidFill>
            <a:srgbClr val="1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06 / SONUÇLAR6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Plus Jakarta Sans"/>
              </a:rPr>
              <a:t>Proje Çıktıları &amp; Excel Sonuç Tablosu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5775" y="2347912"/>
            <a:ext cx="11220450" cy="2752725"/>
          </a:xfrm>
          <a:prstGeom prst="roundRect">
            <a:avLst>
              <a:gd name="adj" fmla="val 0"/>
            </a:avLst>
          </a:prstGeom>
          <a:solidFill>
            <a:srgbClr val="131C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5775" y="2347912"/>
          <a:ext cx="11210922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2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4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Dosya Adı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Doküman Tipi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Müşteri Adı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Yıl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Bağlı Ortaklık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A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 iş bankası.pdf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İş Faktoring 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Tf BDR.pdf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BDR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Türkiye Finans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Yok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 aksa.pdf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AKSA ENERJİ ÜRETİM 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sekerbank.pdf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Şekerbank T.A.Ş.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79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ünlü yatırım.pdf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JCR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ÜNLÜ YATIRIM HOLDİNG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2026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9700" y="6219825"/>
            <a:ext cx="2676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Otomatik Excel Çıktısı (`arayuz_sonuclari.xlsx`)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537" y="28098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4985" y="28098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08760" y="28098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2792" y="28098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96907" y="28098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71471" y="28098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0537" y="32670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4985" y="32670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08760" y="32670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2792" y="32670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96907" y="32670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871471" y="32670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0537" y="37242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4985" y="37242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08760" y="37242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2792" y="37242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96907" y="37242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71471" y="37242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0537" y="41814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4985" y="41814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08760" y="41814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82792" y="41814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596907" y="41814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871471" y="41814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0537" y="4638675"/>
            <a:ext cx="2254448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4985" y="4638675"/>
            <a:ext cx="186377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08760" y="4638675"/>
            <a:ext cx="297403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82792" y="4638675"/>
            <a:ext cx="101411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96907" y="4638675"/>
            <a:ext cx="127456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871471" y="4638675"/>
            <a:ext cx="182999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38BDF8"/>
                </a:solidFill>
                <a:latin typeface="Plus Jakarta Sans SemiBold"/>
              </a:rPr>
              <a:t>07 / SONUÇLAR7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775" y="704850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Plus Jakarta Sans"/>
              </a:rPr>
              <a:t>Sistem Arayüzünden Örnek Sonuçlar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6219825"/>
            <a:ext cx="400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75" b="0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6225" y="6219825"/>
            <a:ext cx="320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0">
                <a:solidFill>
                  <a:srgbClr val="64748B"/>
                </a:solidFill>
                <a:latin typeface="Plus Jakarta Sans"/>
              </a:rPr>
              <a:t>Gradio Web Arayüzü — Canlı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353312"/>
            <a:ext cx="5468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B96FF"/>
                </a:solidFill>
                <a:latin typeface="Aptos"/>
              </a:rPr>
              <a:t>BDR Örneği — Vakıf Katılım Bankası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353312"/>
            <a:ext cx="54681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B96FF"/>
                </a:solidFill>
                <a:latin typeface="Aptos"/>
              </a:rPr>
              <a:t>JCR Örneği — Hepsi Finansman A.Ş.</a:t>
            </a:r>
          </a:p>
        </p:txBody>
      </p:sp>
      <p:pic>
        <p:nvPicPr>
          <p:cNvPr id="15" name="Picture 14" descr="2612dd2e-8da4-44e9-8464-9b526d2f3570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664208"/>
            <a:ext cx="5468112" cy="2211719"/>
          </a:xfrm>
          <a:prstGeom prst="rect">
            <a:avLst/>
          </a:prstGeom>
        </p:spPr>
      </p:pic>
      <p:pic>
        <p:nvPicPr>
          <p:cNvPr id="16" name="Picture 15" descr="306f0f0a-5f50-4e8b-a8e8-b3e2d62ad8eb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64208"/>
            <a:ext cx="5468112" cy="22781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067425"/>
            <a:ext cx="1122045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581" y="704850"/>
            <a:ext cx="1366837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485775"/>
            <a:ext cx="11220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Plus Jakarta Sans SemiBold"/>
              </a:rPr>
              <a:t>08 / KAPANIŞ8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887" y="1295400"/>
            <a:ext cx="1170622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FFFFF"/>
                </a:solidFill>
                <a:latin typeface="Plus Jakarta Sans"/>
              </a:rPr>
              <a:t>Sorularınız?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2305050"/>
            <a:ext cx="112204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Zaman ayırdığınız için teşekkür ederim.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2733675"/>
            <a:ext cx="112204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Stajyer / Geliştirici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6219825"/>
            <a:ext cx="23336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Intelligent Document Processing Projesi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63275" y="6219825"/>
            <a:ext cx="742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Final Sunumu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449</Words>
  <Application>Microsoft Office PowerPoint</Application>
  <PresentationFormat>Geniş ekran</PresentationFormat>
  <Paragraphs>101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2026-09-08T11:43:37Z</dcterms:modified>
  <cp:category/>
</cp:coreProperties>
</file>